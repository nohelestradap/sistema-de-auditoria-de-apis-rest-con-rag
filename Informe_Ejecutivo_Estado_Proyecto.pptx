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INFORME EJECUTIVO DE ESTADO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12064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D9E2F3"/>
                </a:solidFill>
                <a:latin typeface="Calibri"/>
              </a:rPr>
              <a:t>Auditoría Automatizada de APIs REST en DRF · Detección OWASP API Top 10 mediante Análisis Híbrido y RAG con LLM Local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240280" cy="62179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256032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444444"/>
                </a:solidFill>
                <a:latin typeface="Calibri"/>
              </a:rPr>
              <a:t>ESTADO GENERAL</a:t>
            </a:r>
          </a:p>
        </p:txBody>
      </p:sp>
      <p:sp>
        <p:nvSpPr>
          <p:cNvPr id="8" name="Oval 7"/>
          <p:cNvSpPr/>
          <p:nvPr/>
        </p:nvSpPr>
        <p:spPr>
          <a:xfrm>
            <a:off x="9829800" y="48463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04120" y="4572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EN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70432"/>
            <a:ext cx="12191695" cy="4572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" y="1216152"/>
            <a:ext cx="175762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444444"/>
                </a:solidFill>
                <a:latin typeface="Calibri"/>
              </a:rPr>
              <a:t>DIRECTOR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1380744"/>
            <a:ext cx="17576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Nohel Estrada (Tesista)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31949" y="1243584"/>
            <a:ext cx="0" cy="310896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96541" y="1216152"/>
            <a:ext cx="175762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444444"/>
                </a:solidFill>
                <a:latin typeface="Calibri"/>
              </a:rPr>
              <a:t>PATROCINADOR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6541" y="1380744"/>
            <a:ext cx="17576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Comité Académico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3898" y="1243584"/>
            <a:ext cx="0" cy="310896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28490" y="1216152"/>
            <a:ext cx="175762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444444"/>
                </a:solidFill>
                <a:latin typeface="Calibri"/>
              </a:rPr>
              <a:t>DURACIÓN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8490" y="1380744"/>
            <a:ext cx="17576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20 Mar – 13 Oct 2026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7" y="1243584"/>
            <a:ext cx="0" cy="310896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60439" y="1216152"/>
            <a:ext cx="175762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444444"/>
                </a:solidFill>
                <a:latin typeface="Calibri"/>
              </a:rPr>
              <a:t>CORTE DEL INFORME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0439" y="1380744"/>
            <a:ext cx="17576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02 Ago 2026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27796" y="1243584"/>
            <a:ext cx="0" cy="310896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92388" y="1216152"/>
            <a:ext cx="175762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444444"/>
                </a:solidFill>
                <a:latin typeface="Calibri"/>
              </a:rPr>
              <a:t>AVANCE FÍSICO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2388" y="1380744"/>
            <a:ext cx="17576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~70%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159746" y="1243584"/>
            <a:ext cx="0" cy="310896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324338" y="1216152"/>
            <a:ext cx="175762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444444"/>
                </a:solidFill>
                <a:latin typeface="Calibri"/>
              </a:rPr>
              <a:t>PRESUPUESTO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24338" y="1380744"/>
            <a:ext cx="17576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Q 0.00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1755648"/>
            <a:ext cx="2189622" cy="78638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1755648"/>
            <a:ext cx="82296" cy="7863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8640" y="1865376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1837943"/>
            <a:ext cx="16867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CRONOGRAMA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103120"/>
            <a:ext cx="189701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Calibri"/>
              </a:rPr>
              <a:t>Hitos H1–H6 a tiempo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83398" y="1755648"/>
            <a:ext cx="2189622" cy="78638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83398" y="1755648"/>
            <a:ext cx="82296" cy="7863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866278" y="1865376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85734" y="1837943"/>
            <a:ext cx="16867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ALCANCE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66278" y="2103120"/>
            <a:ext cx="189701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Calibri"/>
              </a:rPr>
              <a:t>10/10 categorías OWASP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01036" y="1755648"/>
            <a:ext cx="2189622" cy="78638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01036" y="1755648"/>
            <a:ext cx="82296" cy="7863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183916" y="1865376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03372" y="1837943"/>
            <a:ext cx="16867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COSTO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83916" y="2103120"/>
            <a:ext cx="189701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Calibri"/>
              </a:rPr>
              <a:t>Q0.00, sin desviación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8674" y="1755648"/>
            <a:ext cx="2189622" cy="786384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8674" y="1755648"/>
            <a:ext cx="82296" cy="786384"/>
          </a:xfrm>
          <a:prstGeom prst="rect">
            <a:avLst/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01554" y="1865376"/>
            <a:ext cx="146304" cy="146304"/>
          </a:xfrm>
          <a:prstGeom prst="ellipse">
            <a:avLst/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1010" y="1837943"/>
            <a:ext cx="16867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CALIDAD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01554" y="2103120"/>
            <a:ext cx="189701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Calibri"/>
              </a:rPr>
              <a:t>F1-score pendiente validar F7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36312" y="1755648"/>
            <a:ext cx="2189622" cy="786384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36312" y="1755648"/>
            <a:ext cx="82296" cy="786384"/>
          </a:xfrm>
          <a:prstGeom prst="rect">
            <a:avLst/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819192" y="1865376"/>
            <a:ext cx="146304" cy="146304"/>
          </a:xfrm>
          <a:prstGeom prst="ellipse">
            <a:avLst/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38648" y="1837943"/>
            <a:ext cx="16867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RIESGOS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19192" y="2103120"/>
            <a:ext cx="189701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Calibri"/>
              </a:rPr>
              <a:t>3 riesgos críticos en vigilancia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2724912"/>
            <a:ext cx="7360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HITOS DEL PROYECTO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365760" y="2980944"/>
          <a:ext cx="7360920" cy="15270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3429000"/>
                <a:gridCol w="1463040"/>
                <a:gridCol w="1828800"/>
              </a:tblGrid>
              <a:tr h="23774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Hito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Fecha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</a:rPr>
                        <a:t>H1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</a:rPr>
                        <a:t>Aprobación del Diseño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</a:rPr>
                        <a:t>21 Abr 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● Completado</a:t>
                      </a:r>
                    </a:p>
                  </a:txBody>
                  <a:tcPr marT="12700" marB="12700">
                    <a:solidFill>
                      <a:srgbClr val="E2F0D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</a:rPr>
                        <a:t>H2</a:t>
                      </a:r>
                    </a:p>
                  </a:txBody>
                  <a:tcPr marT="12700" marB="127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</a:rPr>
                        <a:t>API Vulnerable Entregada</a:t>
                      </a:r>
                    </a:p>
                  </a:txBody>
                  <a:tcPr marT="12700" marB="127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</a:rPr>
                        <a:t>15 May 2026</a:t>
                      </a:r>
                    </a:p>
                  </a:txBody>
                  <a:tcPr marT="12700" marB="127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● Completado</a:t>
                      </a:r>
                    </a:p>
                  </a:txBody>
                  <a:tcPr marT="12700" marB="12700">
                    <a:solidFill>
                      <a:srgbClr val="E2F0D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</a:rPr>
                        <a:t>H3–H4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</a:rPr>
                        <a:t>Módulos Estático/Dinámico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</a:rPr>
                        <a:t>23 Jun 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● Completado</a:t>
                      </a:r>
                    </a:p>
                  </a:txBody>
                  <a:tcPr marT="12700" marB="12700">
                    <a:solidFill>
                      <a:srgbClr val="E2F0D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</a:rPr>
                        <a:t>H5</a:t>
                      </a:r>
                    </a:p>
                  </a:txBody>
                  <a:tcPr marT="12700" marB="127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</a:rPr>
                        <a:t>Base RAG Lista (ChromaDB)</a:t>
                      </a:r>
                    </a:p>
                  </a:txBody>
                  <a:tcPr marT="12700" marB="127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</a:rPr>
                        <a:t>16 Jul 2026</a:t>
                      </a:r>
                    </a:p>
                  </a:txBody>
                  <a:tcPr marT="12700" marB="127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● Completado</a:t>
                      </a:r>
                    </a:p>
                  </a:txBody>
                  <a:tcPr marT="12700" marB="12700">
                    <a:solidFill>
                      <a:srgbClr val="E2F0D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</a:rPr>
                        <a:t>H6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</a:rPr>
                        <a:t>LLM Integrado (Ollama+RAG)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</a:rPr>
                        <a:t>28 Jul 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● Completado</a:t>
                      </a:r>
                    </a:p>
                  </a:txBody>
                  <a:tcPr marT="12700" marB="12700">
                    <a:solidFill>
                      <a:srgbClr val="E2F0D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</a:rPr>
                        <a:t>H7</a:t>
                      </a:r>
                    </a:p>
                  </a:txBody>
                  <a:tcPr marT="12700" marB="127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</a:rPr>
                        <a:t>Entrega Final y Defensa</a:t>
                      </a:r>
                    </a:p>
                  </a:txBody>
                  <a:tcPr marT="12700" marB="127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</a:rPr>
                        <a:t>13 Oct 2026</a:t>
                      </a:r>
                    </a:p>
                  </a:txBody>
                  <a:tcPr marT="12700" marB="127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0A500"/>
                          </a:solidFill>
                        </a:rPr>
                        <a:t>● En curso</a:t>
                      </a:r>
                    </a:p>
                  </a:txBody>
                  <a:tcPr marT="12700" marB="12700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55" name="Rounded Rectangle 54"/>
          <p:cNvSpPr/>
          <p:nvPr/>
        </p:nvSpPr>
        <p:spPr>
          <a:xfrm>
            <a:off x="365760" y="4983479"/>
            <a:ext cx="3589020" cy="1536192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056631"/>
            <a:ext cx="33147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LOGROS CLAVE DEL PERIODO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5294375"/>
            <a:ext cx="33147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Calibri"/>
              </a:rPr>
              <a:t>•  Base de conocimiento vectorial RAG indexada en ChromaDB (OWASP + docs DRF)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Calibri"/>
              </a:rPr>
              <a:t>•  LLM local (Ollama, Llama3/Mistral 7B) integrado generando reportes con citas trazables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Calibri"/>
              </a:rPr>
              <a:t>•  Benchmark de rendimiento LLM aprobado, mitigando riesgo R01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Calibri"/>
              </a:rPr>
              <a:t>•  Cero desviaciones de alcance; presupuesto se mantiene en Q0.00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37660" y="4983479"/>
            <a:ext cx="3589020" cy="153619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74820" y="5056631"/>
            <a:ext cx="33147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PRÓXIMOS PASOS (FASE 7)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74820" y="5294375"/>
            <a:ext cx="33147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Calibri"/>
              </a:rPr>
              <a:t>•  Pruebas de integración y validación F1-score ≥ 0.80 (12–27 Ago)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Calibri"/>
              </a:rPr>
              <a:t>•  Análisis comparativo con/sin RAG — contribución original de tesis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Calibri"/>
              </a:rPr>
              <a:t>•  Documentación final + empaquetado pip (README, docs/) (28 Ago–3 Sep)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Calibri"/>
              </a:rPr>
              <a:t>•  Entrega final y defensa ante Comité Académico — 13 Oct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0" y="2724912"/>
            <a:ext cx="3870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TOP RIESGOS (P×I)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7955280" y="2980944"/>
          <a:ext cx="3870655" cy="1115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70455"/>
                <a:gridCol w="548640"/>
                <a:gridCol w="1051560"/>
              </a:tblGrid>
              <a:tr h="23774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Riesgo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P×I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</a:rPr>
                        <a:t>R01 — Rendimiento LLM insuficiente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E0A500"/>
                          </a:solidFill>
                        </a:rPr>
                        <a:t>● Vigilancia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</a:rPr>
                        <a:t>R08 — F1-score final &lt; 0.80</a:t>
                      </a:r>
                    </a:p>
                  </a:txBody>
                  <a:tcPr marT="12700" marB="127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E0A500"/>
                          </a:solidFill>
                        </a:rPr>
                        <a:t>● Vigilancia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</a:rPr>
                        <a:t>R04 — Retrasos carga académica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E0A500"/>
                          </a:solidFill>
                        </a:rPr>
                        <a:t>● Vigilancia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</a:rPr>
                        <a:t>R02 — Cobertura OWASP incompleta</a:t>
                      </a:r>
                    </a:p>
                  </a:txBody>
                  <a:tcPr marT="12700" marB="127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32"/>
                          </a:solidFill>
                        </a:rPr>
                        <a:t>● Mitigado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63" name="Rounded Rectangle 62"/>
          <p:cNvSpPr/>
          <p:nvPr/>
        </p:nvSpPr>
        <p:spPr>
          <a:xfrm>
            <a:off x="7955280" y="4599431"/>
            <a:ext cx="3870655" cy="12344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2440" y="4681727"/>
            <a:ext cx="35963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COMENTARIO DEL DIRECTOR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92440" y="4901183"/>
            <a:ext cx="3596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Proyecto en control general. Fases 1–6 completadas según línea base (línea de tiempo, alcance y costo en verde). Foco actual: validar el F1-score ≥ 0.80 y cerrar la exposición de riesgo técnico antes del cierre de Fase 7.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55280" y="5961887"/>
            <a:ext cx="1862175" cy="457200"/>
          </a:xfrm>
          <a:prstGeom prst="roundRect">
            <a:avLst>
              <a:gd name="adj" fmla="val 15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65008" y="6016751"/>
            <a:ext cx="16427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444444"/>
                </a:solidFill>
                <a:latin typeface="Calibri"/>
              </a:rPr>
              <a:t>EXPOSICIÓN RIESGO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65008" y="6172199"/>
            <a:ext cx="16427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A500"/>
                </a:solidFill>
                <a:latin typeface="Calibri"/>
              </a:rPr>
              <a:t>Media-Alta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963759" y="5961887"/>
            <a:ext cx="1862175" cy="45720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73487" y="6016751"/>
            <a:ext cx="16427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444444"/>
                </a:solidFill>
                <a:latin typeface="Calibri"/>
              </a:rPr>
              <a:t>PRESUPUESTO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73487" y="6172199"/>
            <a:ext cx="16427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Q 0.00 (100% open-source)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6684264"/>
            <a:ext cx="7315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9D4E8"/>
                </a:solidFill>
                <a:latin typeface="Calibri"/>
              </a:rPr>
              <a:t>Sistema de Auditoría Automatizada APIs REST · PMBOK 6ª Ed. · Informe Ejecutivo de Estado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6684264"/>
            <a:ext cx="3108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9D4E8"/>
                </a:solidFill>
                <a:latin typeface="Calibri"/>
              </a:rPr>
              <a:t>Corte: 02 Ago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